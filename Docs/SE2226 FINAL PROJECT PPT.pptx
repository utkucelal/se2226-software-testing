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7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7" r:id="rId19"/>
    <p:sldId id="278" r:id="rId20"/>
    <p:sldId id="272" r:id="rId21"/>
    <p:sldId id="280" r:id="rId22"/>
    <p:sldId id="275" r:id="rId23"/>
  </p:sldIdLst>
  <p:sldSz cx="12192000" cy="6858000"/>
  <p:notesSz cx="6858000" cy="9144000"/>
  <p:embeddedFontLst>
    <p:embeddedFont>
      <p:font typeface="Eras Medium ITC" panose="020B0602030504020804" pitchFamily="34" charset="0"/>
      <p:regular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Poppins" panose="00000500000000000000" pitchFamily="2" charset="-94"/>
      <p:regular r:id="rId30"/>
      <p:bold r:id="rId31"/>
      <p:italic r:id="rId32"/>
      <p:boldItalic r:id="rId33"/>
    </p:embeddedFont>
    <p:embeddedFont>
      <p:font typeface="Poppins SemiBold" panose="00000700000000000000" pitchFamily="2" charset="-94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9F51F-80CF-413E-9277-B60B1C1DCF22}" v="124" dt="2026-05-07T19:00:55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tr-T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0265A2E5-5DD8-BDB7-9123-5AA15478F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>
            <a:extLst>
              <a:ext uri="{FF2B5EF4-FFF2-40B4-BE49-F238E27FC236}">
                <a16:creationId xmlns:a16="http://schemas.microsoft.com/office/drawing/2014/main" id="{D0EB7A5E-4785-91E1-0973-DEEE6567A2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:notes">
            <a:extLst>
              <a:ext uri="{FF2B5EF4-FFF2-40B4-BE49-F238E27FC236}">
                <a16:creationId xmlns:a16="http://schemas.microsoft.com/office/drawing/2014/main" id="{6B003B2F-CF84-A0D1-2A88-F6C8B1EBB8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79849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DC897762-5B89-9F3D-179A-A07B6441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>
            <a:extLst>
              <a:ext uri="{FF2B5EF4-FFF2-40B4-BE49-F238E27FC236}">
                <a16:creationId xmlns:a16="http://schemas.microsoft.com/office/drawing/2014/main" id="{85A2F00B-792D-E4C8-3E2C-760125235C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As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mentioned</a:t>
            </a:r>
            <a:r>
              <a:rPr lang="tr-TR" dirty="0"/>
              <a:t> in the 7th </a:t>
            </a:r>
            <a:r>
              <a:rPr lang="tr-TR" dirty="0" err="1"/>
              <a:t>and</a:t>
            </a:r>
            <a:r>
              <a:rPr lang="tr-TR" dirty="0"/>
              <a:t> 8. </a:t>
            </a:r>
            <a:r>
              <a:rPr lang="tr-TR" dirty="0" err="1"/>
              <a:t>slides</a:t>
            </a:r>
            <a:r>
              <a:rPr lang="tr-TR" dirty="0"/>
              <a:t> </a:t>
            </a:r>
            <a:endParaRPr dirty="0"/>
          </a:p>
        </p:txBody>
      </p:sp>
      <p:sp>
        <p:nvSpPr>
          <p:cNvPr id="303" name="Google Shape;303;p17:notes">
            <a:extLst>
              <a:ext uri="{FF2B5EF4-FFF2-40B4-BE49-F238E27FC236}">
                <a16:creationId xmlns:a16="http://schemas.microsoft.com/office/drawing/2014/main" id="{83282720-CCD3-DC02-9A28-18108E18F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09886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9741ECF0-8E4F-BF2F-DBBC-4D909BF73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>
            <a:extLst>
              <a:ext uri="{FF2B5EF4-FFF2-40B4-BE49-F238E27FC236}">
                <a16:creationId xmlns:a16="http://schemas.microsoft.com/office/drawing/2014/main" id="{31871AEA-45DB-6F5D-AE17-1857113AE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dirty="0"/>
              <a:t>One of the </a:t>
            </a:r>
            <a:r>
              <a:rPr lang="tr-TR" dirty="0" err="1"/>
              <a:t>biggest</a:t>
            </a:r>
            <a:r>
              <a:rPr lang="tr-TR" dirty="0"/>
              <a:t> </a:t>
            </a:r>
            <a:r>
              <a:rPr lang="tr-TR" dirty="0" err="1"/>
              <a:t>issue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faced</a:t>
            </a:r>
            <a:r>
              <a:rPr lang="tr-TR" dirty="0"/>
              <a:t> </a:t>
            </a:r>
            <a:r>
              <a:rPr lang="tr-TR" dirty="0" err="1"/>
              <a:t>was</a:t>
            </a:r>
            <a:r>
              <a:rPr lang="tr-TR" dirty="0"/>
              <a:t> rate limit in payment process </a:t>
            </a:r>
            <a:r>
              <a:rPr lang="tr-TR" dirty="0" err="1"/>
              <a:t>bcs</a:t>
            </a:r>
            <a:r>
              <a:rPr lang="tr-TR" dirty="0"/>
              <a:t> of the </a:t>
            </a:r>
            <a:r>
              <a:rPr lang="tr-TR" dirty="0" err="1"/>
              <a:t>amazon’s</a:t>
            </a:r>
            <a:r>
              <a:rPr lang="tr-TR" dirty="0"/>
              <a:t> bot </a:t>
            </a:r>
            <a:r>
              <a:rPr lang="tr-TR" dirty="0" err="1"/>
              <a:t>protection</a:t>
            </a:r>
            <a:r>
              <a:rPr lang="tr-TR" dirty="0"/>
              <a:t> </a:t>
            </a:r>
            <a:r>
              <a:rPr lang="tr-TR" dirty="0" err="1"/>
              <a:t>thats</a:t>
            </a:r>
            <a:r>
              <a:rPr lang="tr-TR" dirty="0"/>
              <a:t> </a:t>
            </a:r>
            <a:r>
              <a:rPr lang="tr-TR" dirty="0" err="1"/>
              <a:t>why</a:t>
            </a:r>
            <a:r>
              <a:rPr lang="tr-TR" dirty="0"/>
              <a:t> </a:t>
            </a:r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tested</a:t>
            </a:r>
            <a:r>
              <a:rPr lang="tr-TR" dirty="0"/>
              <a:t> </a:t>
            </a:r>
            <a:r>
              <a:rPr lang="tr-TR" dirty="0" err="1"/>
              <a:t>manually</a:t>
            </a:r>
            <a:endParaRPr dirty="0"/>
          </a:p>
        </p:txBody>
      </p:sp>
      <p:sp>
        <p:nvSpPr>
          <p:cNvPr id="303" name="Google Shape;303;p17:notes">
            <a:extLst>
              <a:ext uri="{FF2B5EF4-FFF2-40B4-BE49-F238E27FC236}">
                <a16:creationId xmlns:a16="http://schemas.microsoft.com/office/drawing/2014/main" id="{12AEDD27-F7AA-B703-A96A-72151AD10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55486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>
          <a:extLst>
            <a:ext uri="{FF2B5EF4-FFF2-40B4-BE49-F238E27FC236}">
              <a16:creationId xmlns:a16="http://schemas.microsoft.com/office/drawing/2014/main" id="{EF4CA736-053A-91A1-4D47-F3B66AA78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>
            <a:extLst>
              <a:ext uri="{FF2B5EF4-FFF2-40B4-BE49-F238E27FC236}">
                <a16:creationId xmlns:a16="http://schemas.microsoft.com/office/drawing/2014/main" id="{C954768D-9679-316E-71B6-178D6BAD99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0:notes">
            <a:extLst>
              <a:ext uri="{FF2B5EF4-FFF2-40B4-BE49-F238E27FC236}">
                <a16:creationId xmlns:a16="http://schemas.microsoft.com/office/drawing/2014/main" id="{9E59D98A-F2E6-8095-4A4C-A882E7652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0566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heforage.com/blog/skills/quality-assurance" TargetMode="Externa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oardinfinity.com/blog/software-testing-what-it-is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1.png"/><Relationship Id="rId7" Type="http://schemas.openxmlformats.org/officeDocument/2006/relationships/hyperlink" Target="https://www.amazon.com.t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rive.google.com/file/d/1hheJBT4zCxk3u8gQKQC_aQW5LGIQiNfz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rive.google.com/file/d/1bnC7a7fKztlFTLxhqP3n9Zrq9mFArpPR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BCWFv9kDEBY?feature=oembed" TargetMode="External"/><Relationship Id="rId6" Type="http://schemas.openxmlformats.org/officeDocument/2006/relationships/image" Target="../media/image27.jpeg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mazon.com.tr/" TargetMode="External"/><Relationship Id="rId5" Type="http://schemas.openxmlformats.org/officeDocument/2006/relationships/hyperlink" Target="https://www.boardinfinity.com/blog/software-testing-what-it-is/" TargetMode="External"/><Relationship Id="rId4" Type="http://schemas.openxmlformats.org/officeDocument/2006/relationships/hyperlink" Target="https://www.theforage.com/blog/skills/quality-assuranc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5433"/>
            <a:ext cx="5143500" cy="39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95275" y="860717"/>
            <a:ext cx="1160145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SE 2226 SOFTWARE QUALITY ASSURANCE</a:t>
            </a:r>
            <a:r>
              <a:rPr lang="tr-TR" sz="2800" b="1" i="0" u="none" strike="noStrike" cap="none" dirty="0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 AND TESTING PROJECT</a:t>
            </a:r>
            <a:endParaRPr sz="28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028700" y="2846933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Department: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Software Engineering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28700" y="3647033"/>
            <a:ext cx="4305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Lecturer: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Doç. Dr. Korhan Karabulut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1028700" y="4447133"/>
            <a:ext cx="4305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Prepared By: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Batuhan Türk 24070006083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Utku Celal Turgut 24070006070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Aydın Alp Boyacı 24070006059</a:t>
            </a:r>
            <a:endParaRPr dirty="0"/>
          </a:p>
        </p:txBody>
      </p:sp>
      <p:pic>
        <p:nvPicPr>
          <p:cNvPr id="2" name="Resim 1" descr="What Is QA (Quality Assurance)? - Forage">
            <a:extLst>
              <a:ext uri="{FF2B5EF4-FFF2-40B4-BE49-F238E27FC236}">
                <a16:creationId xmlns:a16="http://schemas.microsoft.com/office/drawing/2014/main" id="{D724ECDB-68A8-A74D-DC71-59631DC20C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4945" y="2242019"/>
            <a:ext cx="4473976" cy="3495294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2263BB58-50DB-EA43-63B9-CF80C7E76645}"/>
              </a:ext>
            </a:extLst>
          </p:cNvPr>
          <p:cNvSpPr txBox="1"/>
          <p:nvPr/>
        </p:nvSpPr>
        <p:spPr>
          <a:xfrm>
            <a:off x="8003227" y="5915877"/>
            <a:ext cx="271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https://www.theforage.com/blog/skills/quality-assurance</a:t>
            </a:r>
            <a:endParaRPr lang="tr-TR" sz="800" dirty="0"/>
          </a:p>
          <a:p>
            <a:endParaRPr lang="tr-TR" sz="800" dirty="0"/>
          </a:p>
          <a:p>
            <a:endParaRPr lang="tr-TR" sz="800" dirty="0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815F507F-D9EC-2C6D-E037-2AF539DE2C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400" y="644948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6B222A0A-EBA5-27AA-1B40-90B39AC0A9DD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729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OUTLINE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16963" y="1841277"/>
            <a:ext cx="50914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1) Brief Introduction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2376487"/>
            <a:ext cx="50914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2) BlackBox Techniques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68361" y="4768405"/>
            <a:ext cx="5075506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FF9900"/>
                </a:solidFill>
                <a:latin typeface="Poppins"/>
                <a:ea typeface="Poppins"/>
                <a:cs typeface="Poppins"/>
                <a:sym typeface="Poppins"/>
              </a:rPr>
              <a:t>3) WhiteBox Techniques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904875" y="2928937"/>
            <a:ext cx="45155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Equivalence Class Partitioning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04875" y="3424237"/>
            <a:ext cx="45155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Boundary Value Analysis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92879" y="3873436"/>
            <a:ext cx="4515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Use Case Testing</a:t>
            </a:r>
            <a:endParaRPr lang="tr-TR" sz="1500" b="0" i="0" u="none" strike="noStrike" cap="none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92879" y="5280246"/>
            <a:ext cx="45014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Unit Tests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866466" y="5765367"/>
            <a:ext cx="45014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Automated Testing</a:t>
            </a:r>
            <a:endParaRPr dirty="0"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89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242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458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044" y="5328857"/>
            <a:ext cx="189905" cy="208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043" y="5797564"/>
            <a:ext cx="189905" cy="2080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4F9065DD-6DEE-A486-570C-DBE232046A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2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Google Shape;112;p14" descr="image.png">
            <a:extLst>
              <a:ext uri="{FF2B5EF4-FFF2-40B4-BE49-F238E27FC236}">
                <a16:creationId xmlns:a16="http://schemas.microsoft.com/office/drawing/2014/main" id="{A2D3E095-A8AE-4F7D-1F19-6B7F2C0FCA3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3825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07;p14">
            <a:extLst>
              <a:ext uri="{FF2B5EF4-FFF2-40B4-BE49-F238E27FC236}">
                <a16:creationId xmlns:a16="http://schemas.microsoft.com/office/drawing/2014/main" id="{E917D5EF-598E-4D9A-3B1C-9BEF7548CC57}"/>
              </a:ext>
            </a:extLst>
          </p:cNvPr>
          <p:cNvSpPr txBox="1"/>
          <p:nvPr/>
        </p:nvSpPr>
        <p:spPr>
          <a:xfrm>
            <a:off x="904875" y="4311205"/>
            <a:ext cx="4515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Decision Table</a:t>
            </a:r>
            <a:endParaRPr lang="tr-TR" sz="1500" b="0" i="0" u="none" strike="noStrike" cap="none" dirty="0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" name="Resim 8" descr="Software Testing: What it is? | Board Infinty">
            <a:extLst>
              <a:ext uri="{FF2B5EF4-FFF2-40B4-BE49-F238E27FC236}">
                <a16:creationId xmlns:a16="http://schemas.microsoft.com/office/drawing/2014/main" id="{0E5ED846-459F-4DC5-98FC-3340F9584A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544" y="1934043"/>
            <a:ext cx="5840331" cy="3285187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903EAE1E-2794-8782-43BD-7526F61456D2}"/>
              </a:ext>
            </a:extLst>
          </p:cNvPr>
          <p:cNvSpPr txBox="1"/>
          <p:nvPr/>
        </p:nvSpPr>
        <p:spPr>
          <a:xfrm>
            <a:off x="7251997" y="5402848"/>
            <a:ext cx="3332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https://www.boardinfinity.com/blog/software-testing-what-it-is/</a:t>
            </a:r>
            <a:endParaRPr lang="tr-TR" sz="800" dirty="0"/>
          </a:p>
          <a:p>
            <a:endParaRPr lang="tr-TR" sz="800" dirty="0"/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E81C8722-228A-96B0-93D2-AA4FE7EF1E1B}"/>
              </a:ext>
            </a:extLst>
          </p:cNvPr>
          <p:cNvPicPr/>
          <p:nvPr/>
        </p:nvPicPr>
        <p:blipFill>
          <a:blip r:embed="rId7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12" name="Google Shape;109;p14">
            <a:extLst>
              <a:ext uri="{FF2B5EF4-FFF2-40B4-BE49-F238E27FC236}">
                <a16:creationId xmlns:a16="http://schemas.microsoft.com/office/drawing/2014/main" id="{48B38A77-B87E-4AFA-160A-4BF68D506DD0}"/>
              </a:ext>
            </a:extLst>
          </p:cNvPr>
          <p:cNvSpPr txBox="1"/>
          <p:nvPr/>
        </p:nvSpPr>
        <p:spPr>
          <a:xfrm>
            <a:off x="855372" y="6215205"/>
            <a:ext cx="45014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500" dirty="0">
                <a:solidFill>
                  <a:srgbClr val="1E293B"/>
                </a:solidFill>
                <a:latin typeface="Inter"/>
                <a:ea typeface="Inter"/>
                <a:sym typeface="Inter"/>
              </a:rPr>
              <a:t>Mutation &amp; Coverage Testing</a:t>
            </a:r>
            <a:endParaRPr dirty="0"/>
          </a:p>
        </p:txBody>
      </p:sp>
      <p:pic>
        <p:nvPicPr>
          <p:cNvPr id="13" name="Google Shape;114;p14" descr="image.png">
            <a:extLst>
              <a:ext uri="{FF2B5EF4-FFF2-40B4-BE49-F238E27FC236}">
                <a16:creationId xmlns:a16="http://schemas.microsoft.com/office/drawing/2014/main" id="{ED70CCD5-072C-7F2A-4A96-7B013C1304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3043" y="6242877"/>
            <a:ext cx="189905" cy="208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52625"/>
            <a:ext cx="4848969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Under Test</a:t>
            </a: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52500" y="2333625"/>
            <a:ext cx="42913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System Under Test: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52500" y="2924175"/>
            <a:ext cx="408696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— Amazon.com.tr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52500" y="3514725"/>
            <a:ext cx="429131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Tested Functionalities: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85875" y="4067175"/>
            <a:ext cx="375359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Search </a:t>
            </a:r>
            <a:r>
              <a:rPr lang="tr-TR" sz="15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Bar</a:t>
            </a:r>
            <a:endParaRPr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1285875" y="4562475"/>
            <a:ext cx="37535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Shopping Cart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285875" y="5057775"/>
            <a:ext cx="37535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Payment System</a:t>
            </a:r>
            <a:endParaRPr/>
          </a:p>
        </p:txBody>
      </p:sp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067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562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505777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F46E6E5-D0AD-DEA8-BCB5-2FA072571F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3</a:t>
            </a:fld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7DF7A0FC-240E-B3C5-34E8-25409E1BA0A9}"/>
              </a:ext>
            </a:extLst>
          </p:cNvPr>
          <p:cNvSpPr txBox="1"/>
          <p:nvPr/>
        </p:nvSpPr>
        <p:spPr>
          <a:xfrm>
            <a:off x="3015234" y="3124236"/>
            <a:ext cx="6158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859E7CE1-5850-C24A-B0DD-74A87AC59EB0}"/>
              </a:ext>
            </a:extLst>
          </p:cNvPr>
          <p:cNvSpPr txBox="1"/>
          <p:nvPr/>
        </p:nvSpPr>
        <p:spPr>
          <a:xfrm>
            <a:off x="3015234" y="3124236"/>
            <a:ext cx="6158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tr-TR" dirty="0"/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E537C97C-8D1E-0170-76B1-9678979141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250949"/>
            <a:ext cx="5007409" cy="3006851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7FE626B9-6F4B-FB12-0FAA-90B43383801A}"/>
              </a:ext>
            </a:extLst>
          </p:cNvPr>
          <p:cNvSpPr txBox="1"/>
          <p:nvPr/>
        </p:nvSpPr>
        <p:spPr>
          <a:xfrm>
            <a:off x="7781870" y="4454753"/>
            <a:ext cx="184756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https://www.amazon.com.tr/</a:t>
            </a:r>
            <a:r>
              <a:rPr lang="tr-TR" sz="800" dirty="0"/>
              <a:t> 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7D2B68F9-81C1-099C-A1CA-367A1523406D}"/>
              </a:ext>
            </a:extLst>
          </p:cNvPr>
          <p:cNvPicPr/>
          <p:nvPr/>
        </p:nvPicPr>
        <p:blipFill>
          <a:blip r:embed="rId8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Search 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Bar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ECP</a:t>
            </a:r>
            <a:endParaRPr dirty="0"/>
          </a:p>
        </p:txBody>
      </p:sp>
      <p:sp>
        <p:nvSpPr>
          <p:cNvPr id="140" name="Google Shape;140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377012" y="2147233"/>
            <a:ext cx="3415283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1" dirty="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Tested by using: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Valid, Empty, Long String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Alphanumeric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0" u="none" strike="noStrike" cap="none" dirty="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String with Logical Exp.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rgbClr val="232F3E"/>
                </a:solidFill>
                <a:latin typeface="Poppins"/>
                <a:ea typeface="Poppins"/>
                <a:cs typeface="Poppins"/>
                <a:sym typeface="Poppins"/>
              </a:rPr>
              <a:t>Special Characters</a:t>
            </a:r>
            <a:endParaRPr lang="tr-TR" sz="2100" b="1" i="0" u="none" strike="noStrike" cap="none" dirty="0">
              <a:solidFill>
                <a:srgbClr val="232F3E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rgbClr val="232F3E"/>
                </a:solidFill>
                <a:latin typeface="Poppins"/>
                <a:cs typeface="Poppins"/>
                <a:sym typeface="Poppins"/>
              </a:rPr>
              <a:t>SQL Statement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52BFFCE-B2F1-1A99-7130-542C16E445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4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AF1C64E1-6E0E-53C1-ABB6-7B56F7B6B9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307" y="2004722"/>
            <a:ext cx="7840169" cy="4163006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0891109D-6C01-B72D-2583-5C64E8752D14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75D4F43-1598-18BF-4E4F-353A54D3D670}"/>
              </a:ext>
            </a:extLst>
          </p:cNvPr>
          <p:cNvSpPr txBox="1"/>
          <p:nvPr/>
        </p:nvSpPr>
        <p:spPr>
          <a:xfrm>
            <a:off x="6372225" y="6275327"/>
            <a:ext cx="32143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000" dirty="0">
                <a:latin typeface="Eras Medium ITC" panose="020B0602030504020804" pitchFamily="34" charset="0"/>
              </a:rPr>
              <a:t>5 OUT OF 7 TESTS PASSED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>
          <a:extLst>
            <a:ext uri="{FF2B5EF4-FFF2-40B4-BE49-F238E27FC236}">
              <a16:creationId xmlns:a16="http://schemas.microsoft.com/office/drawing/2014/main" id="{E534B882-D8CC-A6CC-73C0-363DDA9C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6" descr="image.png">
            <a:extLst>
              <a:ext uri="{FF2B5EF4-FFF2-40B4-BE49-F238E27FC236}">
                <a16:creationId xmlns:a16="http://schemas.microsoft.com/office/drawing/2014/main" id="{A4C53E5B-7D04-3CEE-D960-BC6EF8DE09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5C9FF662-A291-F77B-F92A-67795FA5AED8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Search 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Bar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Special Character Err</a:t>
            </a:r>
            <a:r>
              <a:rPr lang="tr-TR" sz="3300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or</a:t>
            </a:r>
            <a:endParaRPr dirty="0"/>
          </a:p>
        </p:txBody>
      </p:sp>
      <p:sp>
        <p:nvSpPr>
          <p:cNvPr id="140" name="Google Shape;140;p16">
            <a:extLst>
              <a:ext uri="{FF2B5EF4-FFF2-40B4-BE49-F238E27FC236}">
                <a16:creationId xmlns:a16="http://schemas.microsoft.com/office/drawing/2014/main" id="{5CF7A767-7993-519E-7FF1-A5A6BEEC2E60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DE25928-A76C-B123-7D55-FBCB14E1D93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5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7EA63C6-400C-F36B-E846-E34903F7EE2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E89B198B-2679-46E4-E8EF-2D59D78EB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127" y="1479641"/>
            <a:ext cx="9979746" cy="484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76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Search Engine: BVA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443484" y="2274436"/>
            <a:ext cx="3854196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Tested By Using:</a:t>
            </a:r>
          </a:p>
          <a:p>
            <a:pPr lvl="0"/>
            <a:r>
              <a:rPr lang="tr-TR" sz="21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Min  (e.g., 1 Character)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Max (e.g., 8078 Characters)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Min – 1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Max + 1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In Range</a:t>
            </a: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B8A31776-6BB4-0B72-9245-7264399D525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400" y="6451600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6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9C94D55E-0963-D431-3A10-5C70B2269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658" y="1920608"/>
            <a:ext cx="7268589" cy="3829584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F30D76F1-5C0B-3F37-DD14-CE78903BFA31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494CD1EB-C115-7C33-A1D7-5586B64D1B17}"/>
              </a:ext>
            </a:extLst>
          </p:cNvPr>
          <p:cNvSpPr txBox="1"/>
          <p:nvPr/>
        </p:nvSpPr>
        <p:spPr>
          <a:xfrm>
            <a:off x="6372225" y="5956240"/>
            <a:ext cx="32826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latin typeface="Eras Medium ITC" panose="020B0602030504020804" pitchFamily="34" charset="0"/>
              </a:rPr>
              <a:t>6 OUT OF 6 TESTS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Shopping Cart: ECP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1657350"/>
            <a:ext cx="5091417" cy="312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Description: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[1,30] Accepted Valid Stock</a:t>
            </a:r>
            <a:endParaRPr lang="tr-TR" sz="2100" b="1" i="0" u="none" strike="noStrike" cap="none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0" u="none" strike="noStrike" cap="none" dirty="0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Tested By Using: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In Range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Zero</a:t>
            </a:r>
            <a:endParaRPr lang="tr-TR" sz="2100" b="1" i="0" u="none" strike="noStrike" cap="none" dirty="0">
              <a:solidFill>
                <a:schemeClr val="tx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Far above  max limit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Far above min limit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100" b="1" i="0" u="none" strike="noStrike" cap="none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Special Characters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tr-TR" sz="2100" b="1" i="0" u="none" strike="noStrike" cap="none" dirty="0">
              <a:solidFill>
                <a:schemeClr val="accent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25B82791-15CE-D45F-6F88-37BC1F0E60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8176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7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C1448890-1D48-EC06-4A73-A47E52E3E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494" y="1527580"/>
            <a:ext cx="6916115" cy="4667901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CB5A35A1-195A-D7E4-9574-ED8CC41BF665}"/>
              </a:ext>
            </a:extLst>
          </p:cNvPr>
          <p:cNvSpPr txBox="1"/>
          <p:nvPr/>
        </p:nvSpPr>
        <p:spPr>
          <a:xfrm>
            <a:off x="6579488" y="6286500"/>
            <a:ext cx="3294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latin typeface="Eras Medium ITC" panose="020B0602030504020804" pitchFamily="34" charset="0"/>
              </a:rPr>
              <a:t>4 OUT OF 5 TESTS PASSED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Shopping Cart: BVA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1D02E032-2AB2-E415-5F3A-90226DE5B1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8176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8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433A755E-D67D-0E23-DE73-1C2965C14E96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481D5E9A-8902-DB1A-4BC0-AAFC2E62CB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463" y="1938351"/>
            <a:ext cx="6858957" cy="3824260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728F9C0C-7360-2B23-9FF5-3D9D3DB01A69}"/>
              </a:ext>
            </a:extLst>
          </p:cNvPr>
          <p:cNvSpPr txBox="1"/>
          <p:nvPr/>
        </p:nvSpPr>
        <p:spPr>
          <a:xfrm>
            <a:off x="6688074" y="5948108"/>
            <a:ext cx="3187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latin typeface="Eras Medium ITC" panose="020B0602030504020804" pitchFamily="34" charset="0"/>
              </a:rPr>
              <a:t>3 OUT OF 4 TESTS PASSED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40F3E08-7296-4E38-6E19-A6B13E62BD47}"/>
              </a:ext>
            </a:extLst>
          </p:cNvPr>
          <p:cNvSpPr txBox="1"/>
          <p:nvPr/>
        </p:nvSpPr>
        <p:spPr>
          <a:xfrm>
            <a:off x="681228" y="2153412"/>
            <a:ext cx="38176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Description: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[1,11] Accepted Valid Stock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Tested By Using:</a:t>
            </a:r>
          </a:p>
          <a:p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Min – 1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Min  (e.g., 1)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Max (e.g., 11)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Max + 1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/>
        </p:nvSpPr>
        <p:spPr>
          <a:xfrm>
            <a:off x="562356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Card Number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ECP</a:t>
            </a:r>
            <a:endParaRPr dirty="0"/>
          </a:p>
        </p:txBody>
      </p:sp>
      <p:sp>
        <p:nvSpPr>
          <p:cNvPr id="200" name="Google Shape;200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1FFE45D-2C68-8D9D-F5E3-B4B1A581338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40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9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87CC7DF9-A573-4B47-1FC8-41B76E7A2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992" y="2396873"/>
            <a:ext cx="9365183" cy="3330104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960D1D68-FC95-CB14-06E2-6FE2CEC73F7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5A20A0D8-D4E7-7FB1-A4AC-5C354ACE42AC}"/>
              </a:ext>
            </a:extLst>
          </p:cNvPr>
          <p:cNvSpPr txBox="1"/>
          <p:nvPr/>
        </p:nvSpPr>
        <p:spPr>
          <a:xfrm>
            <a:off x="5889863" y="5909871"/>
            <a:ext cx="3187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latin typeface="Eras Medium ITC" panose="020B0602030504020804" pitchFamily="34" charset="0"/>
              </a:rPr>
              <a:t>5 OUT OF 6 TESTS PASSED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0A1BCD83-1C8B-363A-4500-46A4C31A8842}"/>
              </a:ext>
            </a:extLst>
          </p:cNvPr>
          <p:cNvSpPr txBox="1"/>
          <p:nvPr/>
        </p:nvSpPr>
        <p:spPr>
          <a:xfrm>
            <a:off x="214884" y="1585500"/>
            <a:ext cx="23637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Description:</a:t>
            </a:r>
          </a:p>
          <a:p>
            <a:pPr lvl="0"/>
            <a:r>
              <a:rPr lang="tr-TR" sz="2000" b="1" dirty="0">
                <a:latin typeface="Poppins" panose="00000500000000000000" pitchFamily="2" charset="-94"/>
                <a:cs typeface="Poppins" panose="00000500000000000000" pitchFamily="2" charset="-94"/>
              </a:rPr>
              <a:t>1)V</a:t>
            </a:r>
            <a:r>
              <a:rPr lang="en-US" sz="2000" b="1" dirty="0">
                <a:latin typeface="Poppins" panose="00000500000000000000" pitchFamily="2" charset="-94"/>
                <a:cs typeface="Poppins" panose="00000500000000000000" pitchFamily="2" charset="-94"/>
              </a:rPr>
              <a:t>erify a valid card number and the correct card network identifier</a:t>
            </a:r>
            <a:endParaRPr lang="tr-TR" sz="2000" b="1" dirty="0">
              <a:latin typeface="Poppins" panose="00000500000000000000" pitchFamily="2" charset="-94"/>
              <a:cs typeface="Poppins" panose="00000500000000000000" pitchFamily="2" charset="-94"/>
            </a:endParaRPr>
          </a:p>
          <a:p>
            <a:pPr lvl="0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Tested By Using:</a:t>
            </a:r>
          </a:p>
          <a:p>
            <a:pPr lvl="0"/>
            <a:r>
              <a:rPr lang="tr-TR" sz="20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Length of 16 </a:t>
            </a:r>
          </a:p>
          <a:p>
            <a:pPr lvl="0"/>
            <a:r>
              <a:rPr lang="tr-TR" sz="20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Length of 13 </a:t>
            </a:r>
          </a:p>
          <a:p>
            <a:pPr lvl="0"/>
            <a:r>
              <a:rPr lang="tr-TR" sz="2000" b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Length of 20</a:t>
            </a: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Card Number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BVA</a:t>
            </a:r>
            <a:endParaRPr dirty="0"/>
          </a:p>
        </p:txBody>
      </p:sp>
      <p:sp>
        <p:nvSpPr>
          <p:cNvPr id="215" name="Google Shape;215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EFEAF04-4C20-D3AC-660F-8D89C6B0AE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10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A7E663AB-625D-CEC9-FC1F-53A4D03553E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955459C5-A8DE-F7F2-F1D3-8A4BC9D4D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8394" y="2447802"/>
            <a:ext cx="9378722" cy="2806608"/>
          </a:xfrm>
          <a:prstGeom prst="rect">
            <a:avLst/>
          </a:prstGeom>
        </p:spPr>
      </p:pic>
      <p:sp>
        <p:nvSpPr>
          <p:cNvPr id="4" name="Metin kutusu 3">
            <a:extLst>
              <a:ext uri="{FF2B5EF4-FFF2-40B4-BE49-F238E27FC236}">
                <a16:creationId xmlns:a16="http://schemas.microsoft.com/office/drawing/2014/main" id="{1D83D68E-3BD1-A920-716F-1A9CD17B309B}"/>
              </a:ext>
            </a:extLst>
          </p:cNvPr>
          <p:cNvSpPr txBox="1"/>
          <p:nvPr/>
        </p:nvSpPr>
        <p:spPr>
          <a:xfrm>
            <a:off x="214884" y="1713425"/>
            <a:ext cx="23835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Tested By Using:</a:t>
            </a: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Length of 16 CN </a:t>
            </a: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Length of 15 CN</a:t>
            </a: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Length of 17 CN</a:t>
            </a: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4F8E947F-22E8-7A8F-8059-62A8F6363A00}"/>
              </a:ext>
            </a:extLst>
          </p:cNvPr>
          <p:cNvSpPr txBox="1"/>
          <p:nvPr/>
        </p:nvSpPr>
        <p:spPr>
          <a:xfrm>
            <a:off x="5694032" y="5456040"/>
            <a:ext cx="3187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000" dirty="0">
                <a:latin typeface="Eras Medium ITC" panose="020B0602030504020804" pitchFamily="34" charset="0"/>
              </a:rPr>
              <a:t>2 OUT OF 3 TESTS PASSED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 Case: Successful Purchase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(Normal Flow)</a:t>
            </a:r>
            <a:endParaRPr dirty="0"/>
          </a:p>
        </p:txBody>
      </p:sp>
      <p:sp>
        <p:nvSpPr>
          <p:cNvPr id="230" name="Google Shape;230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EF35D96-6782-09BF-A14F-D37E5C75F57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8176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11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BCD5EB22-7F85-7FB9-5656-81B034916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800" y="1697586"/>
            <a:ext cx="6865620" cy="4450577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77037FD0-B64D-65AD-BA9D-18FF4DFB1D7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6EE8E8DB-34C9-6C4F-F5E8-7CB87461E790}"/>
              </a:ext>
            </a:extLst>
          </p:cNvPr>
          <p:cNvSpPr txBox="1"/>
          <p:nvPr/>
        </p:nvSpPr>
        <p:spPr>
          <a:xfrm>
            <a:off x="187452" y="2188913"/>
            <a:ext cx="43662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User successfully buys an item by following:</a:t>
            </a:r>
          </a:p>
          <a:p>
            <a:pPr lvl="0"/>
            <a:endParaRPr lang="tr-TR" sz="2000" b="1" i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Search -&gt; Select -&gt; Add to Cart -&gt; Checkout -&gt; Confirm Order</a:t>
            </a: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 Case: Prime Advantages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(Alternate Flow)</a:t>
            </a:r>
            <a:endParaRPr dirty="0"/>
          </a:p>
        </p:txBody>
      </p:sp>
      <p:sp>
        <p:nvSpPr>
          <p:cNvPr id="240" name="Google Shape;240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C0DFE12C-D345-539E-9DF2-35E323222C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400" y="648176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12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B013EB45-CD28-1F16-9403-27B47CEEA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024" y="2341870"/>
            <a:ext cx="7361664" cy="348871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7ED6E6DE-1CD1-96A6-D2BF-CB381D3873E3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7F11C5D-9300-9EFF-00EF-48603122C175}"/>
              </a:ext>
            </a:extLst>
          </p:cNvPr>
          <p:cNvSpPr txBox="1"/>
          <p:nvPr/>
        </p:nvSpPr>
        <p:spPr>
          <a:xfrm>
            <a:off x="187452" y="2188913"/>
            <a:ext cx="43662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User successfully verifies the prime advantage by following:</a:t>
            </a:r>
          </a:p>
          <a:p>
            <a:pPr lvl="0"/>
            <a:endParaRPr lang="tr-TR" sz="2000" b="1" i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Login -&gt; Select -&gt; Add to Cart -&gt; Checkout -&gt; Verify Advantage</a:t>
            </a: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 Case: Search &amp; Compare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(Alternate Flow 2)</a:t>
            </a:r>
            <a:endParaRPr dirty="0"/>
          </a:p>
        </p:txBody>
      </p:sp>
      <p:sp>
        <p:nvSpPr>
          <p:cNvPr id="250" name="Google Shape;250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DE262D3E-B223-5F5C-4779-5AC585E3DD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16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13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618236FB-8C97-216D-D848-476DDD6617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336" y="2218961"/>
            <a:ext cx="6652164" cy="3047981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836CC756-BDE4-72E2-5290-AB390C2395DB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718487A7-3FDD-5A0A-77B4-A786ED51EAF9}"/>
              </a:ext>
            </a:extLst>
          </p:cNvPr>
          <p:cNvSpPr txBox="1"/>
          <p:nvPr/>
        </p:nvSpPr>
        <p:spPr>
          <a:xfrm>
            <a:off x="196596" y="2311790"/>
            <a:ext cx="45308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User successfully compares the products by following:</a:t>
            </a:r>
          </a:p>
          <a:p>
            <a:pPr lvl="0"/>
            <a:endParaRPr lang="tr-TR" sz="2000" b="1" i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Select Category -&gt; Apply Filter -&gt; Sort Price-&gt; Browse different Product -&gt; Verify Product Information</a:t>
            </a: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295275" y="566682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 Case: Payment Cancellation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(Exceptional Flow)</a:t>
            </a:r>
            <a:endParaRPr dirty="0"/>
          </a:p>
        </p:txBody>
      </p:sp>
      <p:sp>
        <p:nvSpPr>
          <p:cNvPr id="260" name="Google Shape;260;p2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F4162F2-50D8-2C7C-D050-0007E22DE7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16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14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9E605B63-30F2-6544-526C-B452298C8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717" y="2106176"/>
            <a:ext cx="7703234" cy="3273550"/>
          </a:xfrm>
          <a:prstGeom prst="rect">
            <a:avLst/>
          </a:prstGeom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BC9C8B6B-CC3F-F249-D281-F32E56378A5E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3CB67E3-ECEB-687D-920F-D1414A2A0E7A}"/>
              </a:ext>
            </a:extLst>
          </p:cNvPr>
          <p:cNvSpPr txBox="1"/>
          <p:nvPr/>
        </p:nvSpPr>
        <p:spPr>
          <a:xfrm>
            <a:off x="342197" y="2261238"/>
            <a:ext cx="373532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User cancels the payment process by following:</a:t>
            </a:r>
          </a:p>
          <a:p>
            <a:pPr lvl="0"/>
            <a:endParaRPr lang="tr-TR" sz="2000" b="1" i="1" dirty="0">
              <a:solidFill>
                <a:schemeClr val="tx1"/>
              </a:solidFill>
              <a:latin typeface="Poppins"/>
              <a:cs typeface="Poppins"/>
              <a:sym typeface="Poppins"/>
            </a:endParaRPr>
          </a:p>
          <a:p>
            <a:pPr lvl="0"/>
            <a:r>
              <a:rPr lang="tr-TR" sz="2000" b="1" i="1" dirty="0">
                <a:solidFill>
                  <a:schemeClr val="tx1"/>
                </a:solidFill>
                <a:latin typeface="Poppins"/>
                <a:cs typeface="Poppins"/>
                <a:sym typeface="Poppins"/>
              </a:rPr>
              <a:t>Add Products to Cart-&gt; User alters quantity-&gt; Sort Price-&gt; User proceeds to checkout-&gt; Cancel Payment</a:t>
            </a: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  <a:p>
            <a:pPr lvl="0"/>
            <a:endParaRPr lang="tr-TR" sz="2000" b="1" i="1" dirty="0">
              <a:solidFill>
                <a:schemeClr val="accent6"/>
              </a:solidFill>
              <a:latin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6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Decision Table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Free Shipping &amp; Discount</a:t>
            </a:r>
            <a:endParaRPr dirty="0"/>
          </a:p>
        </p:txBody>
      </p:sp>
      <p:sp>
        <p:nvSpPr>
          <p:cNvPr id="270" name="Google Shape;270;p2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E90F698-8388-02E3-3667-351D4465ECD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16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2000" dirty="0">
                <a:solidFill>
                  <a:schemeClr val="tx1"/>
                </a:solidFill>
              </a:rPr>
              <a:t>15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5794B3F-7EC1-E93F-0441-7489F5A3D16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A08584A7-2DD8-D1A0-E97B-A43FB9899A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280" y="2041796"/>
            <a:ext cx="9067440" cy="3367107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FB68AD1A-5452-885E-6997-C2B01DFA8F54}"/>
              </a:ext>
            </a:extLst>
          </p:cNvPr>
          <p:cNvSpPr txBox="1"/>
          <p:nvPr/>
        </p:nvSpPr>
        <p:spPr>
          <a:xfrm>
            <a:off x="1648599" y="5857646"/>
            <a:ext cx="88567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Description: Reduced form because of contradictions on C2 &amp; C3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WhiteBox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Techniques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Library DB Express</a:t>
            </a:r>
            <a:endParaRPr dirty="0"/>
          </a:p>
        </p:txBody>
      </p:sp>
      <p:sp>
        <p:nvSpPr>
          <p:cNvPr id="281" name="Google Shape;281;p2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 txBox="1"/>
          <p:nvPr/>
        </p:nvSpPr>
        <p:spPr>
          <a:xfrm>
            <a:off x="1190625" y="3476625"/>
            <a:ext cx="39440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Statement &amp; Branch Coverage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1190625" y="3971925"/>
            <a:ext cx="39440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Query Generator Validation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1190625" y="4467225"/>
            <a:ext cx="3944094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Database Integrity Checks</a:t>
            </a:r>
            <a:endParaRPr/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72BA20FA-0BF6-331C-5536-1919C745C1C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7711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16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3A0A812-75B4-F9FE-1FB5-7691DD9AED3F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15" name="Resim 14">
            <a:extLst>
              <a:ext uri="{FF2B5EF4-FFF2-40B4-BE49-F238E27FC236}">
                <a16:creationId xmlns:a16="http://schemas.microsoft.com/office/drawing/2014/main" id="{FFFCA4C6-CFBC-2405-5959-17302E22656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334" t="383" r="47623"/>
          <a:stretch>
            <a:fillRect/>
          </a:stretch>
        </p:blipFill>
        <p:spPr>
          <a:xfrm>
            <a:off x="251322" y="2175875"/>
            <a:ext cx="5593357" cy="4201700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4F367EB2-A162-6BF3-47F7-21A931E111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6450" b="218"/>
          <a:stretch>
            <a:fillRect/>
          </a:stretch>
        </p:blipFill>
        <p:spPr>
          <a:xfrm>
            <a:off x="6096000" y="2175875"/>
            <a:ext cx="5781727" cy="4201700"/>
          </a:xfrm>
          <a:prstGeom prst="rect">
            <a:avLst/>
          </a:prstGeom>
        </p:spPr>
      </p:pic>
      <p:sp>
        <p:nvSpPr>
          <p:cNvPr id="18" name="Metin kutusu 17">
            <a:extLst>
              <a:ext uri="{FF2B5EF4-FFF2-40B4-BE49-F238E27FC236}">
                <a16:creationId xmlns:a16="http://schemas.microsoft.com/office/drawing/2014/main" id="{807F1C73-ACCA-2661-1360-C14D327E82BF}"/>
              </a:ext>
            </a:extLst>
          </p:cNvPr>
          <p:cNvSpPr txBox="1"/>
          <p:nvPr/>
        </p:nvSpPr>
        <p:spPr>
          <a:xfrm>
            <a:off x="5352484" y="1495395"/>
            <a:ext cx="1487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Unit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8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3300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WhiteBox Techniques: Library DB Express</a:t>
            </a:r>
            <a:endParaRPr lang="en-US" sz="3600" dirty="0"/>
          </a:p>
        </p:txBody>
      </p:sp>
      <p:sp>
        <p:nvSpPr>
          <p:cNvPr id="296" name="Google Shape;296;p2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AE8D45D1-12F8-00E9-7A48-4620168133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5840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17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36CE5D8-BB96-C6D8-4E5E-85DF7A090BC4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2FAE65F7-A0E0-EBB7-E79B-EEF7D26D0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60" y="2247213"/>
            <a:ext cx="11287080" cy="3513432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D0AAFA3-EF70-FF68-6A46-1C3275FA411F}"/>
              </a:ext>
            </a:extLst>
          </p:cNvPr>
          <p:cNvSpPr txBox="1"/>
          <p:nvPr/>
        </p:nvSpPr>
        <p:spPr>
          <a:xfrm>
            <a:off x="4858610" y="1611984"/>
            <a:ext cx="24747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Mutation Testing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>
          <a:extLst>
            <a:ext uri="{FF2B5EF4-FFF2-40B4-BE49-F238E27FC236}">
              <a16:creationId xmlns:a16="http://schemas.microsoft.com/office/drawing/2014/main" id="{E45F7806-1A1C-4A78-00AC-159BD98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9" descr="image.png">
            <a:extLst>
              <a:ext uri="{FF2B5EF4-FFF2-40B4-BE49-F238E27FC236}">
                <a16:creationId xmlns:a16="http://schemas.microsoft.com/office/drawing/2014/main" id="{52882819-B1B2-BA81-D384-D4B4631672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>
            <a:extLst>
              <a:ext uri="{FF2B5EF4-FFF2-40B4-BE49-F238E27FC236}">
                <a16:creationId xmlns:a16="http://schemas.microsoft.com/office/drawing/2014/main" id="{E79488B6-2410-6B63-4B88-CFEF31D97A2B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Web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Automation: 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Selenium</a:t>
            </a:r>
            <a:endParaRPr dirty="0"/>
          </a:p>
        </p:txBody>
      </p:sp>
      <p:sp>
        <p:nvSpPr>
          <p:cNvPr id="307" name="Google Shape;307;p29">
            <a:extLst>
              <a:ext uri="{FF2B5EF4-FFF2-40B4-BE49-F238E27FC236}">
                <a16:creationId xmlns:a16="http://schemas.microsoft.com/office/drawing/2014/main" id="{BFD95516-6494-B314-BA62-71472F0298DC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F58A67AE-2FF5-B8DC-D7D7-041D41D3A2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7711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18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C8BE602-FCDA-2D87-97B1-CA84B5ACB882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4CAC369E-A5DF-C2A6-567F-9BD3715EA6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530" y="4205152"/>
            <a:ext cx="8849960" cy="2343477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0179909B-0963-2738-1FA6-DF629723FB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8586" y="1460214"/>
            <a:ext cx="8849960" cy="2435567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DB05C762-4C93-8194-5788-EA4F7005F788}"/>
              </a:ext>
            </a:extLst>
          </p:cNvPr>
          <p:cNvSpPr txBox="1"/>
          <p:nvPr/>
        </p:nvSpPr>
        <p:spPr>
          <a:xfrm>
            <a:off x="4302679" y="3882785"/>
            <a:ext cx="400007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800" dirty="0">
                <a:hlinkClick r:id="rId7"/>
              </a:rPr>
              <a:t>https://drive.google.com/file/d/1bnC7a7fKztlFTLxhqP3n9Zrq9mFArpPR</a:t>
            </a:r>
            <a:r>
              <a:rPr lang="tr-TR" sz="800" dirty="0"/>
              <a:t> 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C3D87BF0-CB61-D63C-84A5-542E7DEF8EF9}"/>
              </a:ext>
            </a:extLst>
          </p:cNvPr>
          <p:cNvSpPr txBox="1"/>
          <p:nvPr/>
        </p:nvSpPr>
        <p:spPr>
          <a:xfrm>
            <a:off x="2532172" y="6607716"/>
            <a:ext cx="354101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800" dirty="0">
                <a:hlinkClick r:id="rId8"/>
              </a:rPr>
              <a:t>https://drive.google.com/file/d/1hheJBT4zCxk3u8gQKQC_aQW5LGIQiNfz</a:t>
            </a:r>
            <a:r>
              <a:rPr lang="tr-TR" sz="800" dirty="0"/>
              <a:t> 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3FCF695-83CE-80E2-78FF-5D39E10D9A22}"/>
              </a:ext>
            </a:extLst>
          </p:cNvPr>
          <p:cNvSpPr txBox="1"/>
          <p:nvPr/>
        </p:nvSpPr>
        <p:spPr>
          <a:xfrm>
            <a:off x="100352" y="2359691"/>
            <a:ext cx="2670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Shopping Cart ECP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09F5E535-E3E9-A590-37F4-F4150AA9490D}"/>
              </a:ext>
            </a:extLst>
          </p:cNvPr>
          <p:cNvSpPr txBox="1"/>
          <p:nvPr/>
        </p:nvSpPr>
        <p:spPr>
          <a:xfrm>
            <a:off x="9233541" y="5197731"/>
            <a:ext cx="27994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tr-TR" sz="2000" b="1" i="1" dirty="0">
                <a:solidFill>
                  <a:schemeClr val="accent6"/>
                </a:solidFill>
                <a:latin typeface="Poppins"/>
                <a:cs typeface="Poppins"/>
                <a:sym typeface="Poppins"/>
              </a:rPr>
              <a:t>Shopping Cart BVA</a:t>
            </a:r>
          </a:p>
        </p:txBody>
      </p:sp>
    </p:spTree>
    <p:extLst>
      <p:ext uri="{BB962C8B-B14F-4D97-AF65-F5344CB8AC3E}">
        <p14:creationId xmlns:p14="http://schemas.microsoft.com/office/powerpoint/2010/main" val="3725221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>
          <a:extLst>
            <a:ext uri="{FF2B5EF4-FFF2-40B4-BE49-F238E27FC236}">
              <a16:creationId xmlns:a16="http://schemas.microsoft.com/office/drawing/2014/main" id="{6088DC52-A326-DB12-FBF9-F90A74A48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9" descr="image.png">
            <a:extLst>
              <a:ext uri="{FF2B5EF4-FFF2-40B4-BE49-F238E27FC236}">
                <a16:creationId xmlns:a16="http://schemas.microsoft.com/office/drawing/2014/main" id="{7CD55BEB-12EA-1AFF-7674-BEC8D35F76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>
            <a:extLst>
              <a:ext uri="{FF2B5EF4-FFF2-40B4-BE49-F238E27FC236}">
                <a16:creationId xmlns:a16="http://schemas.microsoft.com/office/drawing/2014/main" id="{A21B6AB5-EA75-434E-A625-7964AFC8455A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Web</a:t>
            </a: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Automation: </a:t>
            </a:r>
            <a:r>
              <a:rPr lang="tr-TR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Selenium (Rate Limit Problem)</a:t>
            </a:r>
            <a:endParaRPr dirty="0"/>
          </a:p>
        </p:txBody>
      </p:sp>
      <p:sp>
        <p:nvSpPr>
          <p:cNvPr id="307" name="Google Shape;307;p29">
            <a:extLst>
              <a:ext uri="{FF2B5EF4-FFF2-40B4-BE49-F238E27FC236}">
                <a16:creationId xmlns:a16="http://schemas.microsoft.com/office/drawing/2014/main" id="{8A66B68A-390D-50E6-0F0E-2A9C3643317B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67C9F9DC-D719-45F4-6FED-1AF753837B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7711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19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3D9B108-A058-1397-1322-5C83DD84A893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C0CAADD4-692C-B49C-59B4-74548D1F5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549" y="2527442"/>
            <a:ext cx="10132901" cy="250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673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9"/>
          <p:cNvSpPr txBox="1"/>
          <p:nvPr/>
        </p:nvSpPr>
        <p:spPr>
          <a:xfrm>
            <a:off x="571500" y="571500"/>
            <a:ext cx="1160145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232F3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Mobile Automation: Maestro</a:t>
            </a:r>
            <a:endParaRPr dirty="0"/>
          </a:p>
        </p:txBody>
      </p:sp>
      <p:sp>
        <p:nvSpPr>
          <p:cNvPr id="307" name="Google Shape;307;p2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31A9CD6E-C088-461F-3316-67D27747CF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77113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20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90C92B8-C7FF-F151-5C67-0295466236BC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7" name="Çevrimiçi Medya 6" title="batuhan maestro">
            <a:hlinkClick r:id="" action="ppaction://media"/>
            <a:extLst>
              <a:ext uri="{FF2B5EF4-FFF2-40B4-BE49-F238E27FC236}">
                <a16:creationId xmlns:a16="http://schemas.microsoft.com/office/drawing/2014/main" id="{7F1AED45-42EA-7403-642D-74C49591565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8242891" y="1505063"/>
            <a:ext cx="2863259" cy="4927713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8DC72EF9-290D-AEEE-05BC-FD5C1D9A43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11" y="1514588"/>
            <a:ext cx="6858022" cy="49625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4">
          <a:extLst>
            <a:ext uri="{FF2B5EF4-FFF2-40B4-BE49-F238E27FC236}">
              <a16:creationId xmlns:a16="http://schemas.microsoft.com/office/drawing/2014/main" id="{829E0278-CEE3-A1F5-1BE6-7A504229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>
            <a:extLst>
              <a:ext uri="{FF2B5EF4-FFF2-40B4-BE49-F238E27FC236}">
                <a16:creationId xmlns:a16="http://schemas.microsoft.com/office/drawing/2014/main" id="{84122038-D536-6CDF-4DDA-19C1CD2A339D}"/>
              </a:ext>
            </a:extLst>
          </p:cNvPr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dirty="0">
                <a:solidFill>
                  <a:srgbClr val="232F3E"/>
                </a:solidFill>
                <a:latin typeface="Poppins SemiBold"/>
                <a:cs typeface="Poppins SemiBold"/>
                <a:sym typeface="Poppins SemiBold"/>
              </a:rPr>
              <a:t>Conclusion &amp; References</a:t>
            </a:r>
            <a:endParaRPr dirty="0"/>
          </a:p>
        </p:txBody>
      </p:sp>
      <p:sp>
        <p:nvSpPr>
          <p:cNvPr id="347" name="Google Shape;347;p32">
            <a:extLst>
              <a:ext uri="{FF2B5EF4-FFF2-40B4-BE49-F238E27FC236}">
                <a16:creationId xmlns:a16="http://schemas.microsoft.com/office/drawing/2014/main" id="{A8974E62-A5AB-0A1A-9FCD-2B5C0653BE9A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>
            <a:extLst>
              <a:ext uri="{FF2B5EF4-FFF2-40B4-BE49-F238E27FC236}">
                <a16:creationId xmlns:a16="http://schemas.microsoft.com/office/drawing/2014/main" id="{6D1E8E75-E2E6-932C-4FEE-51282EC9AED1}"/>
              </a:ext>
            </a:extLst>
          </p:cNvPr>
          <p:cNvSpPr/>
          <p:nvPr/>
        </p:nvSpPr>
        <p:spPr>
          <a:xfrm>
            <a:off x="571500" y="160020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>
            <a:extLst>
              <a:ext uri="{FF2B5EF4-FFF2-40B4-BE49-F238E27FC236}">
                <a16:creationId xmlns:a16="http://schemas.microsoft.com/office/drawing/2014/main" id="{D552A518-F79D-A8F1-A119-38FB31098C44}"/>
              </a:ext>
            </a:extLst>
          </p:cNvPr>
          <p:cNvSpPr/>
          <p:nvPr/>
        </p:nvSpPr>
        <p:spPr>
          <a:xfrm>
            <a:off x="571500" y="25830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>
            <a:extLst>
              <a:ext uri="{FF2B5EF4-FFF2-40B4-BE49-F238E27FC236}">
                <a16:creationId xmlns:a16="http://schemas.microsoft.com/office/drawing/2014/main" id="{52F4F7B0-7245-1A2F-ACBD-AC87FA05641E}"/>
              </a:ext>
            </a:extLst>
          </p:cNvPr>
          <p:cNvSpPr/>
          <p:nvPr/>
        </p:nvSpPr>
        <p:spPr>
          <a:xfrm>
            <a:off x="571500" y="336783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>
            <a:extLst>
              <a:ext uri="{FF2B5EF4-FFF2-40B4-BE49-F238E27FC236}">
                <a16:creationId xmlns:a16="http://schemas.microsoft.com/office/drawing/2014/main" id="{D424A2A0-61AF-AD03-4431-068687C84B78}"/>
              </a:ext>
            </a:extLst>
          </p:cNvPr>
          <p:cNvSpPr/>
          <p:nvPr/>
        </p:nvSpPr>
        <p:spPr>
          <a:xfrm>
            <a:off x="571500" y="41526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2">
            <a:extLst>
              <a:ext uri="{FF2B5EF4-FFF2-40B4-BE49-F238E27FC236}">
                <a16:creationId xmlns:a16="http://schemas.microsoft.com/office/drawing/2014/main" id="{3BA7CDF6-89D7-9AE2-5EA1-0AB7AE579BA1}"/>
              </a:ext>
            </a:extLst>
          </p:cNvPr>
          <p:cNvSpPr/>
          <p:nvPr/>
        </p:nvSpPr>
        <p:spPr>
          <a:xfrm>
            <a:off x="571500" y="25735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>
            <a:extLst>
              <a:ext uri="{FF2B5EF4-FFF2-40B4-BE49-F238E27FC236}">
                <a16:creationId xmlns:a16="http://schemas.microsoft.com/office/drawing/2014/main" id="{3A0D7D83-10FB-A660-B3EF-B7FD9D1ABE62}"/>
              </a:ext>
            </a:extLst>
          </p:cNvPr>
          <p:cNvSpPr/>
          <p:nvPr/>
        </p:nvSpPr>
        <p:spPr>
          <a:xfrm>
            <a:off x="571500" y="257353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2">
            <a:extLst>
              <a:ext uri="{FF2B5EF4-FFF2-40B4-BE49-F238E27FC236}">
                <a16:creationId xmlns:a16="http://schemas.microsoft.com/office/drawing/2014/main" id="{BA3F46B6-7B8A-393F-6D4E-E63BABDA8D1D}"/>
              </a:ext>
            </a:extLst>
          </p:cNvPr>
          <p:cNvSpPr/>
          <p:nvPr/>
        </p:nvSpPr>
        <p:spPr>
          <a:xfrm>
            <a:off x="571500" y="33583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>
            <a:extLst>
              <a:ext uri="{FF2B5EF4-FFF2-40B4-BE49-F238E27FC236}">
                <a16:creationId xmlns:a16="http://schemas.microsoft.com/office/drawing/2014/main" id="{718072F2-2F4C-29EE-676C-3817BF752DFB}"/>
              </a:ext>
            </a:extLst>
          </p:cNvPr>
          <p:cNvSpPr/>
          <p:nvPr/>
        </p:nvSpPr>
        <p:spPr>
          <a:xfrm>
            <a:off x="571500" y="335830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2">
            <a:extLst>
              <a:ext uri="{FF2B5EF4-FFF2-40B4-BE49-F238E27FC236}">
                <a16:creationId xmlns:a16="http://schemas.microsoft.com/office/drawing/2014/main" id="{89FBD2A2-66C3-7814-F311-B4A0A41DE9F6}"/>
              </a:ext>
            </a:extLst>
          </p:cNvPr>
          <p:cNvSpPr/>
          <p:nvPr/>
        </p:nvSpPr>
        <p:spPr>
          <a:xfrm>
            <a:off x="571500" y="41430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2">
            <a:extLst>
              <a:ext uri="{FF2B5EF4-FFF2-40B4-BE49-F238E27FC236}">
                <a16:creationId xmlns:a16="http://schemas.microsoft.com/office/drawing/2014/main" id="{794D7CE8-2BEF-21F4-725A-468225E0B64E}"/>
              </a:ext>
            </a:extLst>
          </p:cNvPr>
          <p:cNvSpPr/>
          <p:nvPr/>
        </p:nvSpPr>
        <p:spPr>
          <a:xfrm>
            <a:off x="571500" y="41430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5DA4D8D3-91D0-EF68-C8F3-9CCAD265852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21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D26F1B8B-DDF9-CEE6-8B40-1D7808E6B0D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251AF336-BE47-8126-0C16-6AA72520B029}"/>
              </a:ext>
            </a:extLst>
          </p:cNvPr>
          <p:cNvSpPr txBox="1"/>
          <p:nvPr/>
        </p:nvSpPr>
        <p:spPr>
          <a:xfrm>
            <a:off x="477715" y="2311092"/>
            <a:ext cx="3188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1: https://www.theforage.com/blog/skills/quality-assurance</a:t>
            </a:r>
            <a:r>
              <a:rPr lang="tr-TR" sz="800" dirty="0"/>
              <a:t> </a:t>
            </a:r>
          </a:p>
          <a:p>
            <a:endParaRPr lang="tr-TR" sz="800" dirty="0"/>
          </a:p>
          <a:p>
            <a:endParaRPr lang="tr-TR" sz="8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26733306-A77C-701A-1ACA-F44ACBC03F23}"/>
              </a:ext>
            </a:extLst>
          </p:cNvPr>
          <p:cNvSpPr txBox="1"/>
          <p:nvPr/>
        </p:nvSpPr>
        <p:spPr>
          <a:xfrm>
            <a:off x="477715" y="3119363"/>
            <a:ext cx="3421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8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2: https://www.boardinfinity.com/blog/software-testing-what-it-is/</a:t>
            </a:r>
            <a:endParaRPr lang="tr-TR" sz="800" dirty="0"/>
          </a:p>
          <a:p>
            <a:endParaRPr lang="tr-TR" sz="8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46D6DD15-7689-3FFD-BE33-EFFFF5449B58}"/>
              </a:ext>
            </a:extLst>
          </p:cNvPr>
          <p:cNvSpPr txBox="1"/>
          <p:nvPr/>
        </p:nvSpPr>
        <p:spPr>
          <a:xfrm>
            <a:off x="477715" y="3927631"/>
            <a:ext cx="21899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 3: https://www.amazon.com.tr/</a:t>
            </a:r>
            <a:r>
              <a:rPr lang="tr-TR" sz="800" dirty="0"/>
              <a:t> 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C8F9EA87-2C87-6E7C-4270-342129DB9549}"/>
              </a:ext>
            </a:extLst>
          </p:cNvPr>
          <p:cNvSpPr txBox="1"/>
          <p:nvPr/>
        </p:nvSpPr>
        <p:spPr>
          <a:xfrm>
            <a:off x="3337873" y="1653671"/>
            <a:ext cx="5516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/>
              <a:t>THANK YOU FOR YOUR ATTENTION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FA85F7CE-4362-7AAC-647A-B835902F2BA2}"/>
              </a:ext>
            </a:extLst>
          </p:cNvPr>
          <p:cNvSpPr txBox="1"/>
          <p:nvPr/>
        </p:nvSpPr>
        <p:spPr>
          <a:xfrm>
            <a:off x="8644128" y="5885432"/>
            <a:ext cx="297637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Batuhan Türk 24070006083</a:t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Utku Celal Turgut 24070006070</a:t>
            </a:r>
            <a:br>
              <a:rPr lang="en-US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Aydın Alp Boyacı 24070006059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08901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3300" dirty="0">
                <a:solidFill>
                  <a:srgbClr val="232F3E"/>
                </a:solidFill>
                <a:latin typeface="Poppins SemiBold"/>
                <a:cs typeface="Poppins SemiBold"/>
                <a:sym typeface="Poppins SemiBold"/>
              </a:rPr>
              <a:t>One of Our Off-Camera Incident</a:t>
            </a:r>
            <a:endParaRPr dirty="0"/>
          </a:p>
        </p:txBody>
      </p:sp>
      <p:sp>
        <p:nvSpPr>
          <p:cNvPr id="347" name="Google Shape;347;p3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/>
          <p:nvPr/>
        </p:nvSpPr>
        <p:spPr>
          <a:xfrm>
            <a:off x="571500" y="160020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2"/>
          <p:cNvSpPr/>
          <p:nvPr/>
        </p:nvSpPr>
        <p:spPr>
          <a:xfrm>
            <a:off x="571500" y="258306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/>
          <p:nvPr/>
        </p:nvSpPr>
        <p:spPr>
          <a:xfrm>
            <a:off x="571500" y="3367831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2"/>
          <p:cNvSpPr/>
          <p:nvPr/>
        </p:nvSpPr>
        <p:spPr>
          <a:xfrm>
            <a:off x="571500" y="41526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Slayt Numarası Yer Tutucusu 1">
            <a:extLst>
              <a:ext uri="{FF2B5EF4-FFF2-40B4-BE49-F238E27FC236}">
                <a16:creationId xmlns:a16="http://schemas.microsoft.com/office/drawing/2014/main" id="{88354A7B-382C-E999-46E3-B81436479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039350" y="6492875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smtClean="0">
                <a:solidFill>
                  <a:schemeClr val="tx1"/>
                </a:solidFill>
              </a:rPr>
              <a:t>22</a:t>
            </a:fld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4726A6D-EEA2-903F-0372-D6FE8AFE065F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287080" y="0"/>
            <a:ext cx="904680" cy="885600"/>
          </a:xfrm>
          <a:prstGeom prst="rect">
            <a:avLst/>
          </a:prstGeom>
          <a:ln w="0">
            <a:noFill/>
          </a:ln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5BBDE0D0-8154-03C8-B963-338659F8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55" y="2042079"/>
            <a:ext cx="10589690" cy="32943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707</Words>
  <Application>Microsoft Office PowerPoint</Application>
  <PresentationFormat>Geniş ekran</PresentationFormat>
  <Paragraphs>138</Paragraphs>
  <Slides>22</Slides>
  <Notes>22</Notes>
  <HiddenSlides>1</HiddenSlides>
  <MMClips>1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29" baseType="lpstr">
      <vt:lpstr>Arial</vt:lpstr>
      <vt:lpstr>Poppins SemiBold</vt:lpstr>
      <vt:lpstr>Poppins</vt:lpstr>
      <vt:lpstr>Calibri</vt:lpstr>
      <vt:lpstr>Inter</vt:lpstr>
      <vt:lpstr>Eras Medium ITC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Alp</dc:creator>
  <cp:lastModifiedBy>Aydın Alp Boyacı</cp:lastModifiedBy>
  <cp:revision>2</cp:revision>
  <dcterms:modified xsi:type="dcterms:W3CDTF">2026-05-07T19:31:16Z</dcterms:modified>
</cp:coreProperties>
</file>